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PLATFORM DEMO &amp;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Budget Planning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5D Analytics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45920" y="347472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multi-entity, multi-currency bottom-up budgeting across 6 legal entities, 24 departments, and 5-dimensional program analytics for CY2026-27.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4572000"/>
            <a:ext cx="22860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ENTITIES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4572000"/>
            <a:ext cx="22860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4572000"/>
            <a:ext cx="22860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TAGGING MATRIX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78240" y="4572000"/>
            <a:ext cx="22860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7824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AUDIT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PROBLEM &amp;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Built This Platform: Spreadsheet Chaos vs Governed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Transitioning from error-prone multi-tab Excel files to a single source of truth.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Challenges with Legacy Spreadsheets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Broken Formulas &amp; Currency Mismatches: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Manual USD conversion across INR, BDT, IDR, NPR caused constant reconciliation errors.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Role-Based Access Control: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Dept heads could overwrite global overheads or see confidential staff salaries.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Painful Donor Reporting: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Inability to pivot costs by CIFF, Mulago, CRI, or specific state locations.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Version Chaos: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Over 30+ detached versions during annual budget review cycles.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The Centralized Budget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Standardized Chart of Accounts (COA):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Every line mapped to standardized GL codes and parent account ledgers.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Security (RBAC):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Dept Heads only see &amp; edit their assigned entity and department.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Employee Master Integration: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One-click auto-population of staff, banding, CTC, and increments.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5-Dimensional Tagging: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Instant pivot views by Location, Donor, Activity, and Condition Area.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GLOBAL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Multi-Entity Architecture &amp; Currency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statutory entity compliance combined with global USD executive consolidation.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Noora Health (US)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Headquarters &amp; 501(c)(3) Entity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Currency: USD ($)  |  FX Rate: 1 USD = 1.0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3832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🇮🇳 NHIPL (India Pvt Ltd)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Core Delivery Operations Entity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Currency: INR (₹)  |  FX Rate: 1 USD = 83.50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63840" y="1737360"/>
            <a:ext cx="33832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🇮🇳 YAIF (India Section 8)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Non-profit Program Entity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Currency: INR (₹)  |  FX Rate: 1 USD = 83.50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33832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🇧🇩 NHBD (Bangladesh)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Country Office Operations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Currency: BDT (৳)  |  FX Rate: 1 USD = 117.00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0" y="3931920"/>
            <a:ext cx="33832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🇮🇩 Noora Indonesia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Asia Health Systems Entity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0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Currency: IDR (Rp)  |  FX Rate: 1 USD = 16,200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63840" y="3931920"/>
            <a:ext cx="33832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🇳🇵 Noora Nepal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 Programs &amp; Government Scale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Currency: NPR (रू)  |  FX Rate: 1 USD = 133.50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PERSONNEL BUDGETING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 Budgeting: Salaries, Increments &amp; Allowances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compensation modeling with employee master sync, banding, and phasing.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Salaries &amp; Wages Module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Master Auto-Populate: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Instantly loads active department staff, designations, and CTCs.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Increment Modeling: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Enter increment % (e.g. 10%) and effective month to auto-recompute monthly payroll.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Banding &amp; Level Standards: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Mapped to NH1–NH6 bands with employee status tracking (Existing vs New Hire).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Phasing: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Accurate 12-month payroll projection in local currency and USD.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Other Staff Costs &amp; CapEx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Staff Insurance &amp; Medical Welfare: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Health coverage, accident insurance, and team wellness allocations.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Gratuity &amp; Statutory Bonus: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Statutory end-of-service accruals and performance bonuses.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EHA Program Resource Consultants: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External medical advisors, clinicians, and technical consultants.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Fixed Assets (CapEx):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Laptops, mobile devices, and field equipment scheduling with quantity × rate.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NON-PAYROLL &amp;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Operating, Travel &amp; Workshop Budgeting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cost formulas with quantity, unit rates, and activity-driven milestones.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🛫 Travel &amp; Living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Airfare, train tickets, airport cabs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Hotel nights &amp; per diems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Formula: Trips × Ticket Rate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Phased by travel month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3832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IMP Training Programs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of Trainers (ToT)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Cadres (Nurses, Doctors, ASHAs)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Participant batches &amp; duration days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Benchmark venue &amp; logistics rates
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737360"/>
            <a:ext cx="33832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Office &amp; Administration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Office rent, lease &amp; coworking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Internet, utilities &amp; telecom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Legal, compliance &amp; audit fees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Software subscriptions &amp; licenses
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5D TAGGING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5-Dimensional (5D) Budget Tagging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line item is tagged across 5 strategic dimensions for multi-angle reporting.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4688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Dimension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states/regions (Karnataka, MP, Punjab, Maharashtra, Central, All)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4688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Dimension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/ Fund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&amp; unrestricted funding sources (CIFF, Mulago, CRI, Draper, General Fund)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4688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Dimension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Stream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activity streams (Direct Service, Training, M&amp;E, Tech &amp; Product, Management)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0" y="1737360"/>
            <a:ext cx="24688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Dimension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2396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Area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2396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focus areas (Maternal &amp; Newborn Care, Tuberculosis, Oncology, Cardiac, All)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937760"/>
            <a:ext cx="10515600" cy="1188720"/>
          </a:xfrm>
          <a:prstGeom prst="rect">
            <a:avLst/>
          </a:prstGeom>
          <a:solidFill>
            <a:srgbClr val="032B43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0749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5th Dimension: Department &amp; Legal Entity Mapping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440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with the 4 strategic tags, every line item is linked back to its originating Entity (e.g. NHIPL) and Department (e.g. Implementation, Medical, Product) to form the unified 5D Master Matrix.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REAL-TIME CONSOLIDATION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Sheet &amp; Real-Time Variance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department consolidation with CY-2026 vs Prior Period (CY-2025) comparison.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Automated GL Rollups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Manual Data Compilation: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Bottom-up line items automatically aggregate into the standard Chart of Accounts.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Hierarchical Parent Accounts: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Summary views by Payroll, Professional Fees, Travel, and Operating Costs.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Currency Visibility: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Shows totals and monthly distributions in both Local Currency (INR/BDT/IDR/NPR) and USD.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Prior Period Variance &amp; Governance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 Year Comparison (CY-2025):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Benchmark proposed CY-2026 budgets directly against CY-2025 actual/approved spending.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Escalation Highlighting: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Calculates growth % and delta to flag cost increases for finance approval.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 Flow Milestone Checks: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Validates monthly phasing against planned program deliverables.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SECURITY &amp;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 &amp; Entity Isolation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security boundaries to ensure users only see and edit authorized data.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Role: Super Admin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global system access, multi-currency conversion rates, user roles, master COA setup.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Role: Finance Admin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3317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Entity-wide budget approval, financial controls, master employee management, full reporting.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Role: Dept Head / Owner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5262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budgets strictly for assigned entity and department. Locked out of other entities.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Role: Reviewer / Auditor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45262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access to view budgets, consolidated rollups, and audit trails without edit rights.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 REPORTING &amp;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 &amp; Multi-Dimensional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consolidation from board-level summaries to granular GL line items.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24688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Global USD Consolidated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view of all 6 entities converted to USD at official annual exchange rates.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4688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🇮🇳 India Consolidated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view of NHIPL and YAIF in INR (₹) with USD conversion and inter-entity tags.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4688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Entity &amp; Dept Reports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department-level cost statements with parent accounts, GL ledgers, and monthly phasings.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0" y="1737360"/>
            <a:ext cx="246888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5D Pivot Views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2396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switchers: By Department, By Donor, By Location, By Activity, By Condition Area.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EXCEL IMPORT &amp; EXPORT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Export Engine: Dimension-Specific &amp; 5D Master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boardroom-ready Excel workbooks tailored for finance, leadership, and donors.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Clean Dimension-Specific Sheets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By Department (Entity by Dept):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Entity, Department, Parent Ledger, Line Item Ledger, 12 Months Local &amp; USD without extra tag clutter.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By Location / By Donor / By Activity / By Condition: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Dedicated single-dimension sheets tailored specifically for grant reporting.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5D Consolidated Report Sheet: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Master flat sheet with ALL 5 dimensions mapped simultaneously.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Detailed Input Sheets in Full Book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Salaries &amp; Wages (Inputs):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Employee code, designation, band, CTC, increment %, and monthly schedule.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Operating &amp; Travel (Inputs):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Itemized airfare routes, hotel nights, per diems, quantities, and rates.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EHA Consultants &amp; Fixed Assets: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Retainer contracts, IT laptop specifications, and purchase dates.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 Programs (Inputs):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Event details, participant cadres, batch sizes, and logistics.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DEVELOPMENT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Journey: Steps Taken &amp; Key Challenges Overcome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engineered the platform from concept to full-scale multi-entity budget governance.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Key Implementation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Global Setup &amp; Multi-Currency Architecture: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Modeled 6 entities, 24 depts, and FX conversion matrices (USD, INR, BDT, IDR, NPR).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Standardized Chart of Accounts (COA):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Established unified GL ledgers &amp; parent account hierarchies across all cost categories.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Bottom-Up Estimation Engines: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Built automated employee sync, CTC increment models, travel formulas, &amp; IMP logs.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5D Tagging &amp; Security Governance: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Embedded Location, Donor, Activity, Condition tags + strict RBAC entity data isolation.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Excel Compiler &amp; Analytics: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Delivered clean dimension sheets, 5D Master Matrix, and granular input workbooks.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🧗 Key Challenges Faced &amp; Solved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Multi-Currency Month-Wise Phasing Precision: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Converting 5 native currencies to USD across 12 monthly columns without rounding drift.
</a:t>
            </a:r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Solution: Built centralized financial normalization &amp; bidirectional FX calculation utilities.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Entity Isolation vs Global Consolidation: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Preventing local dept heads from viewing confidential payroll while leadership gets instant global rollups.
</a:t>
            </a:r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Solution: Implemented role-aware middleware that intercepts data queries at storage layer.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5D Matrix Tagging vs Accounting GL Standards: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Enabling grant/donor slicing without breaking statutory GL accounting structures.
</a:t>
            </a:r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Solution: Developed a unified 5D data schema binding multidimensional tags directly to GL items.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 Dimension-Specific Excel Workbooks: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Exporting clean single-dimension sheets without tag clutter while keeping 5D Matrix in 1 file.
</a:t>
            </a:r>
            <a:pPr indent="0" marL="0">
              <a:buNone/>
            </a:pPr>
            <a:r>
              <a:rPr lang="en-US" sz="95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Solution: Engineered a dynamic XLSX compiler that isolates columns per sheet format.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LIVE DEMO 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Walkthrough for the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these 5 simple steps during your team demonstration.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9659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Selection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Budget Year (2026-27), Legal Entity (e.g. NHIPL), and Department (e.g. Implementation).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52928" y="1737360"/>
            <a:ext cx="19659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1920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44368" y="2240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 Budgeting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44368" y="283464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"Auto-Populate from Employee Master", adjust increment % to 10%, and add a new planned hire.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74336" y="1737360"/>
            <a:ext cx="19659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920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65776" y="2240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Costs &amp; 5D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65776" y="283464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field supervision travel using Quantity × Rate formula, and tag Donor (CIFF) &amp; Location (Karnataka).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95744" y="1737360"/>
            <a:ext cx="19659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1920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87184" y="2240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Total Cost Sheet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87184" y="283464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automated GL rollup, monthly distribution curve, and compare against CY-2025 prior period costs.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17152" y="1737360"/>
            <a:ext cx="196596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8592" y="1920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08592" y="2240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Export &amp; Reports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308592" y="283464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complete multi-tab workbook with By Dept, By Donor, 5D Matrix, and granular input sheets.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NEXT STEPS &amp; ROLLOUT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Roadmap &amp; Budget Finalization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timeline to onboard department heads and lock the CY2026-27 budget.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Noora Health — Confidential • CY2026-27 Budget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Master Data Setup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Chart of Accounts, Employee Master data, and exchange rate assumptions for CY2026-27.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3832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2-3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Dept Head Training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27432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walkthrough with department heads to enter bottom-up personnel and operating budgets.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737360"/>
            <a:ext cx="33832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Finance Review &amp; Signoff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46720" y="27432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Consolidation, inter-entity adjustments, donor grant reconciliation, and Board presentation.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solidFill>
            <a:srgbClr val="0284C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3949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Questions &amp; Live Discussion — Let's dive into the live app demo!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2026-08-22T15:10:27Z</dcterms:created>
  <dcterms:modified xsi:type="dcterms:W3CDTF">2026-08-22T15:10:28Z</dcterms:modified>
</cp:coreProperties>
</file>